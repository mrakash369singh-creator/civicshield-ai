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CIVICSHIELD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C8DC"/>
                </a:solidFill>
              </a:defRPr>
            </a:pPr>
            <a:r>
              <a:t>AI-Powered Smart City Civic Infrastructure Command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5029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CDCE6"/>
                </a:solidFill>
              </a:defRPr>
            </a:pPr>
            <a:r>
              <a:t>Detect • Prioritize • Dispatch • Verify</a:t>
            </a:r>
          </a:p>
        </p:txBody>
      </p:sp>
      <p:pic>
        <p:nvPicPr>
          <p:cNvPr id="5" name="Picture 4" descr="005f1ca5cff246358b389419660fb5c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103120"/>
            <a:ext cx="2743200" cy="1432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CIVIC INFRASTRUCTURE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5029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CDCE6"/>
                </a:solidFill>
              </a:defRPr>
            </a:pPr>
            <a:r>
              <a:t>Citizen reports are fragmented, manual prioritization delays response, and verification is missing. CivicShield AI addresses potholes, garbage, broken streetlights, road damage, water leaks and infrastructure failures.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5029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C8C8DC"/>
                </a:solidFill>
              </a:defRPr>
            </a:pPr>
            <a:r>
              <a:t>Delayed response</a:t>
            </a:r>
          </a:p>
          <a:p>
            <a:pPr>
              <a:defRPr sz="1400" b="0">
                <a:solidFill>
                  <a:srgbClr val="C8C8DC"/>
                </a:solidFill>
              </a:defRPr>
            </a:pPr>
            <a:r>
              <a:t>Manual prioritization</a:t>
            </a:r>
          </a:p>
          <a:p>
            <a:pPr>
              <a:defRPr sz="1400" b="0">
                <a:solidFill>
                  <a:srgbClr val="C8C8DC"/>
                </a:solidFill>
              </a:defRPr>
            </a:pPr>
            <a:r>
              <a:t>Scattered reports</a:t>
            </a:r>
          </a:p>
          <a:p>
            <a:pPr>
              <a:defRPr sz="1400" b="0">
                <a:solidFill>
                  <a:srgbClr val="C8C8DC"/>
                </a:solidFill>
              </a:defRPr>
            </a:pPr>
            <a:r>
              <a:t>Repeated duplicate issues</a:t>
            </a:r>
          </a:p>
          <a:p>
            <a:pPr>
              <a:defRPr sz="1400" b="0">
                <a:solidFill>
                  <a:srgbClr val="C8C8DC"/>
                </a:solidFill>
              </a:defRPr>
            </a:pPr>
            <a:r>
              <a:t>Poor SLA visibility</a:t>
            </a:r>
          </a:p>
          <a:p>
            <a:pPr>
              <a:defRPr sz="1400" b="0">
                <a:solidFill>
                  <a:srgbClr val="C8C8DC"/>
                </a:solidFill>
              </a:defRPr>
            </a:pPr>
            <a:r>
              <a:t>Weak resolution verification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CIVICSHIELD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C8DC"/>
                </a:solidFill>
              </a:defRPr>
            </a:pPr>
            <a:r>
              <a:t>End-to-End Smart City Command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5029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CDCE6"/>
                </a:solidFill>
              </a:defRPr>
            </a:pPr>
            <a:r>
              <a:t>Citizen / Image → AI Vision → Detection → Severity &amp; Safety → Priority → Hotspot → Department → SLA →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5029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C8C8DC"/>
                </a:solidFill>
              </a:defRPr>
            </a:pPr>
            <a:r>
              <a:t>AI-powered</a:t>
            </a:r>
          </a:p>
          <a:p>
            <a:pPr>
              <a:defRPr sz="1400" b="0">
                <a:solidFill>
                  <a:srgbClr val="C8C8DC"/>
                </a:solidFill>
              </a:defRPr>
            </a:pPr>
            <a:r>
              <a:t>Real-time</a:t>
            </a:r>
          </a:p>
          <a:p>
            <a:pPr>
              <a:defRPr sz="1400" b="0">
                <a:solidFill>
                  <a:srgbClr val="C8C8DC"/>
                </a:solidFill>
              </a:defRPr>
            </a:pPr>
            <a:r>
              <a:t>Priority-driven</a:t>
            </a:r>
          </a:p>
          <a:p>
            <a:pPr>
              <a:defRPr sz="1400" b="0">
                <a:solidFill>
                  <a:srgbClr val="C8C8DC"/>
                </a:solidFill>
              </a:defRPr>
            </a:pPr>
            <a:r>
              <a:t>Location-aware</a:t>
            </a:r>
          </a:p>
          <a:p>
            <a:pPr>
              <a:defRPr sz="1400" b="0">
                <a:solidFill>
                  <a:srgbClr val="C8C8DC"/>
                </a:solidFill>
              </a:defRPr>
            </a:pPr>
            <a:r>
              <a:t>Resolution-aware</a:t>
            </a:r>
          </a:p>
        </p:txBody>
      </p:sp>
      <p:pic>
        <p:nvPicPr>
          <p:cNvPr id="6" name="Picture 5" descr="112a460072e245878d6b362b61f62c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103120"/>
            <a:ext cx="27432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AI-POWERED CIVIC INCIDENT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5029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CDCE6"/>
                </a:solidFill>
              </a:defRPr>
            </a:pPr>
            <a:r>
              <a:t>Pothole detected with 95% confidence. Severity 8.8/10, Safety Risk HIGH, Priority 92/100. Recommended department: ROAD MAINTENANCE.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5029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C8C8DC"/>
                </a:solidFill>
              </a:defRPr>
            </a:pPr>
            <a:r>
              <a:t>AI Detection</a:t>
            </a:r>
          </a:p>
          <a:p>
            <a:pPr>
              <a:defRPr sz="1400" b="0">
                <a:solidFill>
                  <a:srgbClr val="C8C8DC"/>
                </a:solidFill>
              </a:defRPr>
            </a:pPr>
            <a:r>
              <a:t>Priority Engine</a:t>
            </a:r>
          </a:p>
          <a:p>
            <a:pPr>
              <a:defRPr sz="1400" b="0">
                <a:solidFill>
                  <a:srgbClr val="C8C8DC"/>
                </a:solidFill>
              </a:defRPr>
            </a:pPr>
            <a:r>
              <a:t>Department Recommendation</a:t>
            </a:r>
          </a:p>
        </p:txBody>
      </p:sp>
      <p:pic>
        <p:nvPicPr>
          <p:cNvPr id="5" name="Picture 4" descr="112a460072e245878d6b362b61f62c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103120"/>
            <a:ext cx="27432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REAL-TIME CIVIC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5029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CDCE6"/>
                </a:solidFill>
              </a:defRPr>
            </a:pPr>
            <a:r>
              <a:t>Live dashboard monitoring with 83 total reports, 26 critical incidents, 18 high-priority issues, hotspot awareness, SLA tracking and map-driven dispatch.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5029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C8C8DC"/>
                </a:solidFill>
              </a:defRPr>
            </a:pPr>
            <a:r>
              <a:t>83 Total Reports</a:t>
            </a:r>
          </a:p>
          <a:p>
            <a:pPr>
              <a:defRPr sz="1400" b="0">
                <a:solidFill>
                  <a:srgbClr val="C8C8DC"/>
                </a:solidFill>
              </a:defRPr>
            </a:pPr>
            <a:r>
              <a:t>26 Critical</a:t>
            </a:r>
          </a:p>
          <a:p>
            <a:pPr>
              <a:defRPr sz="1400" b="0">
                <a:solidFill>
                  <a:srgbClr val="C8C8DC"/>
                </a:solidFill>
              </a:defRPr>
            </a:pPr>
            <a:r>
              <a:t>18 High Priority</a:t>
            </a:r>
          </a:p>
          <a:p>
            <a:pPr>
              <a:defRPr sz="1400" b="0">
                <a:solidFill>
                  <a:srgbClr val="C8C8DC"/>
                </a:solidFill>
              </a:defRPr>
            </a:pPr>
            <a:r>
              <a:t>Civic Hotspots</a:t>
            </a:r>
          </a:p>
          <a:p>
            <a:pPr>
              <a:defRPr sz="1400" b="0">
                <a:solidFill>
                  <a:srgbClr val="C8C8DC"/>
                </a:solidFill>
              </a:defRPr>
            </a:pPr>
            <a:r>
              <a:t>SLA Monitoring</a:t>
            </a:r>
          </a:p>
          <a:p>
            <a:pPr>
              <a:defRPr sz="1400" b="0">
                <a:solidFill>
                  <a:srgbClr val="C8C8DC"/>
                </a:solidFill>
              </a:defRPr>
            </a:pPr>
            <a:r>
              <a:t>Live Map</a:t>
            </a:r>
          </a:p>
        </p:txBody>
      </p:sp>
      <p:pic>
        <p:nvPicPr>
          <p:cNvPr id="5" name="Picture 4" descr="005f1ca5cff246358b389419660fb5c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103120"/>
            <a:ext cx="2743200" cy="1432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FROM DETECTION TO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5029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CDCE6"/>
                </a:solidFill>
              </a:defRPr>
            </a:pPr>
            <a:r>
              <a:t>Hotspots cluster nearby reports for escalation. SLA intelligence tracks targets, deadlines, due soon and breaches. Resolution verification compares before/after evidence with AI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5029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C8C8DC"/>
                </a:solidFill>
              </a:defRPr>
            </a:pPr>
            <a:r>
              <a:t>Hotspot cluster detection</a:t>
            </a:r>
          </a:p>
          <a:p>
            <a:pPr>
              <a:defRPr sz="1400" b="0">
                <a:solidFill>
                  <a:srgbClr val="C8C8DC"/>
                </a:solidFill>
              </a:defRPr>
            </a:pPr>
            <a:r>
              <a:t>Targeted SLA tracking</a:t>
            </a:r>
          </a:p>
          <a:p>
            <a:pPr>
              <a:defRPr sz="1400" b="0">
                <a:solidFill>
                  <a:srgbClr val="C8C8DC"/>
                </a:solidFill>
              </a:defRPr>
            </a:pPr>
            <a:r>
              <a:t>Evidence-based resolution verification</a:t>
            </a:r>
          </a:p>
        </p:txBody>
      </p:sp>
      <p:pic>
        <p:nvPicPr>
          <p:cNvPr id="5" name="Picture 4" descr="112a460072e245878d6b362b61f62c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103120"/>
            <a:ext cx="2743200" cy="2057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